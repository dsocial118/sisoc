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7B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7BA61"/>
                </a:solidFill>
                <a:latin typeface="Montserrat"/>
              </a:rPr>
              <a:t>SISOC · INET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Lora"/>
              </a:rPr>
              <a:t>Buscador por Ciudadano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9326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5DCF0"/>
                </a:solidFill>
                <a:latin typeface="Montserrat"/>
              </a:rPr>
              <a:t>Trayectoria formativa completa de una persona por DNI o CUIL: cursos, comisión, centro, estado de cada inscripción y resultado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B2CC"/>
                </a:solidFill>
                <a:latin typeface="Montserrat"/>
              </a:rPr>
              <a:t>Mockup no funcional · Datos ficticios · 13/08/2026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9612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8681"/>
                </a:solidFill>
                <a:latin typeface="Montserrat"/>
              </a:rPr>
              <a:t>docs/plans/2026-08-13-inet-buscador-por-ciudadano-issue.md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7B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7B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E7BA61"/>
                </a:solidFill>
                <a:latin typeface="Lora"/>
              </a:rPr>
              <a:t>1 · Estado inicial</a:t>
            </a:r>
          </a:p>
        </p:txBody>
      </p:sp>
      <p:pic>
        <p:nvPicPr>
          <p:cNvPr id="4" name="Picture 3" descr="slide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88" y="932688"/>
            <a:ext cx="10290719" cy="5138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63056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AAB2CC"/>
                </a:solidFill>
                <a:latin typeface="Montserrat"/>
              </a:rPr>
              <a:t>Campo único que acepta DNI o CUIL/CUIT, con o sin guiones. El estado vacío aclara desde el principio que el resultado se limita al alcance de acceso del usuario.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7B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E7BA61"/>
                </a:solidFill>
                <a:latin typeface="Lora"/>
              </a:rPr>
              <a:t>2 · Resultado — ficha y resumen</a:t>
            </a:r>
          </a:p>
        </p:txBody>
      </p:sp>
      <p:pic>
        <p:nvPicPr>
          <p:cNvPr id="4" name="Picture 3" descr="slide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86296"/>
            <a:ext cx="11368735" cy="4831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63056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AAB2CC"/>
                </a:solidFill>
                <a:latin typeface="Montserrat"/>
              </a:rPr>
              <a:t>Búsqueda resuelta: datos del ciudadano y contadores de su trayectoria. El % de asistencia es global sobre las sesiones registradas.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7B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E7BA61"/>
                </a:solidFill>
                <a:latin typeface="Lora"/>
              </a:rPr>
              <a:t>2 · Resultado — trayectoria formativa</a:t>
            </a:r>
          </a:p>
        </p:txBody>
      </p:sp>
      <p:pic>
        <p:nvPicPr>
          <p:cNvPr id="4" name="Picture 3" descr="slide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23" y="932688"/>
            <a:ext cx="10474248" cy="5138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63056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AAB2CC"/>
                </a:solidFill>
                <a:latin typeface="Montserrat"/>
              </a:rPr>
              <a:t>Una fila por inscripción. Estado del cursado y resultado final van en columnas separadas: 'Completada' + 'Desaprobado' (fila de Informática) es un caso válido y frecuente.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7B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E7BA61"/>
                </a:solidFill>
                <a:latin typeface="Lora"/>
              </a:rPr>
              <a:t>3 · Resultado — referente de centro</a:t>
            </a:r>
          </a:p>
        </p:txBody>
      </p:sp>
      <p:pic>
        <p:nvPicPr>
          <p:cNvPr id="4" name="Picture 3" descr="slide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214" y="932688"/>
            <a:ext cx="8937266" cy="5138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63056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AAB2CC"/>
                </a:solidFill>
                <a:latin typeface="Montserrat"/>
              </a:rPr>
              <a:t>La misma búsqueda con alcance restringido: 2 de las 5 inscripciones. El aviso evita que el listado se lea como la trayectoria completa.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7B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E7BA61"/>
                </a:solidFill>
                <a:latin typeface="Lora"/>
              </a:rPr>
              <a:t>4 · Ciudadano inexistente</a:t>
            </a:r>
          </a:p>
        </p:txBody>
      </p:sp>
      <p:pic>
        <p:nvPicPr>
          <p:cNvPr id="4" name="Picture 3" descr="slide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46169"/>
            <a:ext cx="11368735" cy="4511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63056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AAB2CC"/>
                </a:solidFill>
                <a:latin typeface="Montserrat"/>
              </a:rPr>
              <a:t>El documento no corresponde a ningún ciudadano registrado en SISOC.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7B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E7BA61"/>
                </a:solidFill>
                <a:latin typeface="Lora"/>
              </a:rPr>
              <a:t>4 · Ciudadano sin inscripciones INET</a:t>
            </a:r>
          </a:p>
        </p:txBody>
      </p:sp>
      <p:pic>
        <p:nvPicPr>
          <p:cNvPr id="4" name="Picture 3" descr="slide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65914"/>
            <a:ext cx="11368735" cy="3872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63056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AAB2CC"/>
                </a:solidFill>
                <a:latin typeface="Montserrat"/>
              </a:rPr>
              <a:t>Caso distinto del anterior y con mensaje propio: la persona existe, pero no registra inscripciones dentro del alcance del usuario.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7B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E7BA61"/>
                </a:solidFill>
                <a:latin typeface="Lora"/>
              </a:rPr>
              <a:t>5 · Desambiguación</a:t>
            </a:r>
          </a:p>
        </p:txBody>
      </p:sp>
      <p:pic>
        <p:nvPicPr>
          <p:cNvPr id="4" name="Picture 3" descr="slide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94860"/>
            <a:ext cx="11368735" cy="4014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63056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AAB2CC"/>
                </a:solidFill>
                <a:latin typeface="Montserrat"/>
              </a:rPr>
              <a:t>La unicidad en SISOC es tipo de documento + número, no el número solo: un mismo número puede corresponder a más de un ciudadano.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7B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Lora"/>
              </a:rPr>
              <a:t>Tres decisiones que vienen del modelo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4864" cy="1188720"/>
          </a:xfrm>
          <a:prstGeom prst="rect">
            <a:avLst/>
          </a:prstGeom>
          <a:solidFill>
            <a:srgbClr val="3B8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E7BA61"/>
                </a:solidFill>
                <a:latin typeface="Montserrat"/>
              </a:rPr>
              <a:t>Estado del cursado y resultado final son ejes independientes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5DCF0"/>
                </a:solidFill>
                <a:latin typeface="Montserrat"/>
              </a:rPr>
              <a:t>Inscripcion.estado dice si cursa, completó o abandonó. resultado_final dice si aprobó. Un alumno puede figurar 'Completada' y 'Desaprobado': colapsar ambos en una sola columna sería un error de lectura.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90672"/>
            <a:ext cx="54864" cy="1188720"/>
          </a:xfrm>
          <a:prstGeom prst="rect">
            <a:avLst/>
          </a:prstGeom>
          <a:solidFill>
            <a:srgbClr val="3B8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90672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E7BA61"/>
                </a:solidFill>
                <a:latin typeface="Montserrat"/>
              </a:rPr>
              <a:t>'Sin calificar' se muestra explícito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0215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5DCF0"/>
                </a:solidFill>
                <a:latin typeface="Montserrat"/>
              </a:rPr>
              <a:t>resultado_final nulo es el estado inicial del campo y distingue al alumno pendiente de carga del ya calificado. Nunca se renderiza como celda vacía.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26864"/>
            <a:ext cx="54864" cy="1188720"/>
          </a:xfrm>
          <a:prstGeom prst="rect">
            <a:avLst/>
          </a:prstGeom>
          <a:solidFill>
            <a:srgbClr val="3B8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26864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E7BA61"/>
                </a:solidFill>
                <a:latin typeface="Montserrat"/>
              </a:rPr>
              <a:t>La asistencia sin registros no es 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38344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5DCF0"/>
                </a:solidFill>
                <a:latin typeface="Montserrat"/>
              </a:rPr>
              <a:t>Una comisión sin asistencias cargadas muestra 'Sin registros'. Un 0% afirmaría que la persona nunca asistió, que es una afirmación distinta.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7B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